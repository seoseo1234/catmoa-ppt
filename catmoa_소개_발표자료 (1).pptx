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6" r:id="rId3"/>
    <p:sldId id="267" r:id="rId4"/>
    <p:sldId id="257" r:id="rId5"/>
    <p:sldId id="258" r:id="rId6"/>
    <p:sldId id="259" r:id="rId7"/>
    <p:sldId id="260" r:id="rId8"/>
    <p:sldId id="261" r:id="rId9"/>
    <p:sldId id="263" r:id="rId10"/>
    <p:sldId id="262" r:id="rId11"/>
    <p:sldId id="264" r:id="rId12"/>
    <p:sldId id="26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9616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catmoa는 교사 해커톤에서 시작된 프로젝트로, 목표는 '사용자 개입 최소화'입니다.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교사 7명 대상 사전 인터뷰 결과입니다. 대부분이 일정을 놓친 경험이 있었고, 만족도는 보통 수준이지만 기록의 번거로움과 누락에서 개선 요구가 나왔습니다.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처음 가정한 문제와 인터뷰에서 확인한 사실, 그리고 재정의한 문제를 순서대로 제시합니다. 이 재정의가 이후 기능 설계의 기준입니다.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도입 장벽이 낮다는 점을 강조합니다. 특히 Google 연동에 JSON 키 파일이 필요 없다는 점이 기존 도구와 다릅니다.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가지 입력 방식이 모두 '별도 조작 없이' 가능하다는 점, 특히 자동 탐지와 음성 메모 연계가 현장 밀착적입니다.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기술적 독자성의 첫 번째 축입니다. 규칙 기반은 빠르고 정확하게, 경량 모델은 문맥이 필요한 부분을 담당합니다. 두 단계 모두 로컬에서 수행됩니다.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단일 프롬프트로 모든 판단을 시키면 모델이 혼동하기 쉬우므로, 단계별 하네스로 각 단계의 판단 범위를 좁혔습니다.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검증된 도구를 활용해 신뢰성과 개발 부담을 동시에 해결했습니다.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교사 해커톤의 목표였던 '사용자 개입 최소화'를 인터페이스로 구현한 부분입니다.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역할 기반 필터와 교시·퇴근 시각 해석은 일반 일정관리 도구에는 없는 기능입니다.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보안 정책이 엄격한 학교에서는 로컬 Ollama를 선택할 수 있다는 점이 실무적으로 중요합니다.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시에는 3번(로컬 비식별화)과 4번(단계별 프롬프트 하네스)을 핵심 기술 차별점으로 강조합니다.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E8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4">
            <a:extLst>
              <a:ext uri="{FF2B5EF4-FFF2-40B4-BE49-F238E27FC236}">
                <a16:creationId xmlns:a16="http://schemas.microsoft.com/office/drawing/2014/main" id="{A2734563-A705-B06A-D4ED-D3A4C423DF2F}"/>
              </a:ext>
            </a:extLst>
          </p:cNvPr>
          <p:cNvSpPr/>
          <p:nvPr/>
        </p:nvSpPr>
        <p:spPr>
          <a:xfrm>
            <a:off x="3267225" y="2923297"/>
            <a:ext cx="5160917" cy="1349829"/>
          </a:xfrm>
          <a:prstGeom prst="roundRect">
            <a:avLst>
              <a:gd name="adj" fmla="val 4444"/>
            </a:avLst>
          </a:prstGeom>
          <a:solidFill>
            <a:srgbClr val="C57F35"/>
          </a:solidFill>
          <a:ln w="12700">
            <a:solidFill>
              <a:srgbClr val="C57F35"/>
            </a:solidFill>
            <a:prstDash val="solid"/>
          </a:ln>
          <a:effectLst>
            <a:outerShdw blurRad="127000" dist="25400" dir="5400000" algn="bl" rotWithShape="0">
              <a:srgbClr val="C9A97C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" name="Shape 0"/>
          <p:cNvSpPr/>
          <p:nvPr/>
        </p:nvSpPr>
        <p:spPr>
          <a:xfrm>
            <a:off x="3291540" y="553346"/>
            <a:ext cx="5226596" cy="119990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3291540" y="553346"/>
            <a:ext cx="5226596" cy="1199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97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교사를 위한 일정 </a:t>
            </a:r>
            <a:r>
              <a:rPr lang="en-US" sz="2800" b="1" dirty="0" err="1">
                <a:solidFill>
                  <a:srgbClr val="B97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</a:t>
            </a:r>
            <a:r>
              <a:rPr lang="en-US" sz="2800" b="1" dirty="0">
                <a:solidFill>
                  <a:srgbClr val="B97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800" b="1" dirty="0" err="1">
                <a:solidFill>
                  <a:srgbClr val="B97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3972459" y="2975432"/>
            <a:ext cx="4500680" cy="1245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CatMoa</a:t>
            </a:r>
            <a:endParaRPr lang="en-US" sz="7200" dirty="0">
              <a:solidFill>
                <a:schemeClr val="bg1"/>
              </a:solidFill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3422748" y="5835811"/>
            <a:ext cx="5690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78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macOS · Windows · Linux   |   무료 · 오픈소스 (MIT)   |   교사 해커톤 프로젝트</a:t>
            </a:r>
            <a:endParaRPr lang="en-US" sz="1200" dirty="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5FCBDAFF-1572-CE84-DFD0-ABF6F7BFC3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4838" y="2438299"/>
            <a:ext cx="2193471" cy="219347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C57F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인터뷰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9611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F33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교사에게 먼저 물었습니다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4475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78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교사 7명 대상 사전 인터뷰 · 업무 전달 경로와 기록 방식, 놓친 경험을 조사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3474720" cy="1371600"/>
          </a:xfrm>
          <a:prstGeom prst="roundRect">
            <a:avLst>
              <a:gd name="adj" fmla="val 6667"/>
            </a:avLst>
          </a:prstGeom>
          <a:solidFill>
            <a:srgbClr val="C57F35"/>
          </a:solidFill>
          <a:ln w="12700">
            <a:solidFill>
              <a:srgbClr val="C57F35"/>
            </a:solidFill>
            <a:prstDash val="solid"/>
          </a:ln>
          <a:effectLst>
            <a:outerShdw blurRad="127000" dist="25400" dir="5400000" algn="bl" rotWithShape="0">
              <a:srgbClr val="C9A97C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822960" y="202996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85%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3347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일정이나 업무를 놓친 경험이 </a:t>
            </a:r>
            <a:r>
              <a:rPr lang="en-US" sz="12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있다고</a:t>
            </a: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52544" y="1874520"/>
            <a:ext cx="34747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C9A97C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4626864" y="202996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F33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3.4점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4626864" y="263347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5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관리 방식 만족도 (5점 만점)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56448" y="1874520"/>
            <a:ext cx="34747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C9A97C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8430768" y="202996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F33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4가지 이상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8430768" y="263347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5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일정이 전달되는 경로 · 메신저, 공문, 단톡방, 구두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3504" y="3621024"/>
            <a:ext cx="128016" cy="128016"/>
          </a:xfrm>
          <a:prstGeom prst="ellipse">
            <a:avLst/>
          </a:prstGeom>
          <a:solidFill>
            <a:srgbClr val="D994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960120" y="35204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F33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전달 경로가 흩어져 있다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3538728"/>
            <a:ext cx="6720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5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메신저와 에듀파인 공문이 기본이지만, 단톡방과 회의·구두 전달 같은 비정형 경로도 많음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03504" y="4224528"/>
            <a:ext cx="128016" cy="128016"/>
          </a:xfrm>
          <a:prstGeom prst="ellipse">
            <a:avLst/>
          </a:prstGeom>
          <a:solidFill>
            <a:srgbClr val="D994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960120" y="412394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F33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기록은 결국 사람 손에 달려 있다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4937760" y="4142232"/>
            <a:ext cx="6720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5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수첩과 앱을 병행하지만 일일이 옮겨 적어야 하고, 기록 자체를 잊기도 함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03504" y="4828032"/>
            <a:ext cx="128016" cy="128016"/>
          </a:xfrm>
          <a:prstGeom prst="ellipse">
            <a:avLst/>
          </a:prstGeom>
          <a:solidFill>
            <a:srgbClr val="D994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960120" y="472744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F33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놓치면 곧바로 급해진다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4937760" y="4745736"/>
            <a:ext cx="6720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5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회의나 공문 마감을 늦게 확인하고, 서류 수합을 뒤늦게 알아 급하게 처리한 사례가 반복됨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285232"/>
            <a:ext cx="11094415" cy="841248"/>
          </a:xfrm>
          <a:prstGeom prst="roundRect">
            <a:avLst>
              <a:gd name="adj" fmla="val 13043"/>
            </a:avLst>
          </a:prstGeom>
          <a:solidFill>
            <a:srgbClr val="F6E7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868680" y="5285232"/>
            <a:ext cx="104543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F5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도구가 없어서 놓치는 것이 아니라, 경로가 흩어져 있고 기록이 사람 손에 달려 있었다.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C57F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9611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3F332A"/>
                </a:solidFill>
                <a:latin typeface="Malgun Gothic" pitchFamily="34" charset="0"/>
                <a:ea typeface="Malgun Gothic" pitchFamily="34" charset="-122"/>
              </a:rPr>
              <a:t>문제 정의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4475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18465" y="1526394"/>
            <a:ext cx="11124590" cy="804672"/>
          </a:xfrm>
          <a:prstGeom prst="roundRect">
            <a:avLst>
              <a:gd name="adj" fmla="val 8696"/>
            </a:avLst>
          </a:prstGeom>
          <a:solidFill>
            <a:srgbClr val="F6E7CE"/>
          </a:solidFill>
          <a:ln w="12700">
            <a:solidFill>
              <a:srgbClr val="F6E7CE"/>
            </a:solidFill>
            <a:prstDash val="solid"/>
          </a:ln>
          <a:effectLst>
            <a:outerShdw blurRad="127000" dist="25400" dir="5400000" algn="bl" rotWithShape="0">
              <a:srgbClr val="C9A97C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679574" y="161783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F5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처음에 생각한 문제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79573" y="1839249"/>
            <a:ext cx="494834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200"/>
              </a:lnSpc>
              <a:buNone/>
            </a:pPr>
            <a:r>
              <a:rPr lang="en-US" sz="1200" b="1" dirty="0" err="1">
                <a:solidFill>
                  <a:srgbClr val="3F33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메신저와</a:t>
            </a:r>
            <a:r>
              <a:rPr lang="en-US" sz="1200" b="1" dirty="0">
                <a:solidFill>
                  <a:srgbClr val="3F33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b="1" dirty="0" err="1">
                <a:solidFill>
                  <a:srgbClr val="3F33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공문에서</a:t>
            </a:r>
            <a:r>
              <a:rPr lang="en-US" sz="1200" b="1" dirty="0">
                <a:solidFill>
                  <a:srgbClr val="3F33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b="1" dirty="0">
                <a:solidFill>
                  <a:srgbClr val="3F33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일정을</a:t>
            </a:r>
            <a:r>
              <a:rPr lang="en-US" sz="1200" b="1" dirty="0">
                <a:solidFill>
                  <a:srgbClr val="3F33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자동으로 수집하는 기능의 부재</a:t>
            </a:r>
            <a:endParaRPr lang="en-US" sz="1200" b="1" dirty="0"/>
          </a:p>
        </p:txBody>
      </p:sp>
      <p:sp>
        <p:nvSpPr>
          <p:cNvPr id="9" name="Shape 7"/>
          <p:cNvSpPr/>
          <p:nvPr/>
        </p:nvSpPr>
        <p:spPr>
          <a:xfrm>
            <a:off x="512718" y="2644413"/>
            <a:ext cx="11094415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C9A97C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622662" y="2816191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97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인터뷰에서 알게 된 것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11927" y="3161488"/>
            <a:ext cx="102714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900"/>
              </a:lnSpc>
              <a:buNone/>
            </a:pPr>
            <a:r>
              <a:rPr lang="en-US" sz="1400" b="1" dirty="0">
                <a:solidFill>
                  <a:srgbClr val="3F33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구두 전달이나 회의, 학교 단체 채팅방 등 다양한 매체에서 업무가 전달된다는 사실</a:t>
            </a:r>
            <a:endParaRPr lang="en-US" sz="1400" b="1" dirty="0"/>
          </a:p>
          <a:p>
            <a:pPr marL="0" indent="0">
              <a:lnSpc>
                <a:spcPts val="2900"/>
              </a:lnSpc>
              <a:buNone/>
            </a:pPr>
            <a:r>
              <a:rPr lang="en-US" sz="1400" b="1" dirty="0">
                <a:solidFill>
                  <a:srgbClr val="3F33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복잡한 기능이 아니라 단순하고 간결한 기능이 필요하다는 사실</a:t>
            </a:r>
            <a:endParaRPr lang="en-US" sz="1400" b="1" dirty="0"/>
          </a:p>
        </p:txBody>
      </p:sp>
      <p:sp>
        <p:nvSpPr>
          <p:cNvPr id="12" name="Shape 10"/>
          <p:cNvSpPr/>
          <p:nvPr/>
        </p:nvSpPr>
        <p:spPr>
          <a:xfrm>
            <a:off x="512718" y="4237921"/>
            <a:ext cx="11130337" cy="1765440"/>
          </a:xfrm>
          <a:prstGeom prst="roundRect">
            <a:avLst>
              <a:gd name="adj" fmla="val 6250"/>
            </a:avLst>
          </a:prstGeom>
          <a:solidFill>
            <a:srgbClr val="C57F35"/>
          </a:solidFill>
          <a:ln w="12700">
            <a:solidFill>
              <a:srgbClr val="C57F35"/>
            </a:solidFill>
            <a:prstDash val="solid"/>
          </a:ln>
          <a:effectLst>
            <a:outerShdw blurRad="127000" dist="25400" dir="5400000" algn="bl" rotWithShape="0">
              <a:srgbClr val="C9A97C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622662" y="4400763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0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재정의한 문제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09747" y="4806911"/>
            <a:ext cx="10818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다양한 경로</a:t>
            </a: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</a:t>
            </a:r>
            <a:r>
              <a:rPr lang="en-US" sz="24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전달된</a:t>
            </a: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일정을</a:t>
            </a: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편리하게 수집하고 정리하기</a:t>
            </a:r>
            <a:endParaRPr lang="en-US" sz="24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C57F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F33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설치와 Google 연동이 아주 쉬움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13385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78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메시지 · 내려받기에서 실행까지, 그리고 연동까지 단순하게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09928"/>
            <a:ext cx="11094415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C9A97C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804672" y="1856232"/>
            <a:ext cx="420624" cy="420624"/>
          </a:xfrm>
          <a:prstGeom prst="ellipse">
            <a:avLst/>
          </a:prstGeom>
          <a:solidFill>
            <a:srgbClr val="F6E7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804672" y="18562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97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17647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F33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내려받아 더블클릭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084832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5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파일 하나로 끝. Python 설치나 서버 구축이 필요 없음 (macOS·Windows·Linux)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2551176"/>
            <a:ext cx="11094415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C9A97C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804672" y="2697480"/>
            <a:ext cx="420624" cy="420624"/>
          </a:xfrm>
          <a:prstGeom prst="ellipse">
            <a:avLst/>
          </a:prstGeom>
          <a:solidFill>
            <a:srgbClr val="F6E7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804672" y="2697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97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2606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F33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 키 없는 Google 로그인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2926080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5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 로그인 한 번으로 캘린더·Tasks 연결, 토큰은 OS 키체인에 저장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3392424"/>
            <a:ext cx="11094415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C9A97C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804672" y="3538728"/>
            <a:ext cx="420624" cy="420624"/>
          </a:xfrm>
          <a:prstGeom prst="ellipse">
            <a:avLst/>
          </a:prstGeom>
          <a:solidFill>
            <a:srgbClr val="F6E7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804672" y="3538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97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34472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F33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설정 약 1분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3767328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5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공급자·API 키 선택 → 연결 테스트 → Google 로그인이면 준비 완료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48640" y="4233672"/>
            <a:ext cx="11094415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C9A97C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804672" y="4379976"/>
            <a:ext cx="420624" cy="420624"/>
          </a:xfrm>
          <a:prstGeom prst="ellipse">
            <a:avLst/>
          </a:prstGeom>
          <a:solidFill>
            <a:srgbClr val="F6E7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804672" y="43799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97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417320" y="428853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F33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배울 것이 없는 사용법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417320" y="4608576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5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창을 열고 메뉴를 찾는 대신, 화면 위 고양이에 자료를 던지기만 하면 됨</a:t>
            </a:r>
            <a:endParaRPr lang="en-US" sz="1350" dirty="0"/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1FCBAB79-C274-9E73-6FF4-B6FEFD3ACD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001" y="5294376"/>
            <a:ext cx="1518557" cy="151855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C57F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F33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쉽고 직관적인 네 가지 입력 방식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13385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78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메시지 · 자료의 형태와 출처를 가리지 않는 업무 수집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548641" y="5285232"/>
            <a:ext cx="9528048" cy="841248"/>
          </a:xfrm>
          <a:prstGeom prst="roundRect">
            <a:avLst>
              <a:gd name="adj" fmla="val 13043"/>
            </a:avLst>
          </a:prstGeom>
          <a:solidFill>
            <a:srgbClr val="F6E7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 txBox="1"/>
          <p:nvPr/>
        </p:nvSpPr>
        <p:spPr>
          <a:xfrm>
            <a:off x="868681" y="5285232"/>
            <a:ext cx="7056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F5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교사가 업무를 찾아 정리하는 것이 아니라, 흩어진 업무가 한곳으로 모인다.</a:t>
            </a:r>
            <a:endParaRPr lang="en-US" sz="1500" dirty="0"/>
          </a:p>
        </p:txBody>
      </p:sp>
      <p:pic>
        <p:nvPicPr>
          <p:cNvPr id="46" name="그림 45">
            <a:extLst>
              <a:ext uri="{FF2B5EF4-FFF2-40B4-BE49-F238E27FC236}">
                <a16:creationId xmlns:a16="http://schemas.microsoft.com/office/drawing/2014/main" id="{91F2EB1C-B244-976A-14BB-5D30C470E6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5819" y="5166360"/>
            <a:ext cx="1494391" cy="1494391"/>
          </a:xfrm>
          <a:prstGeom prst="rect">
            <a:avLst/>
          </a:prstGeom>
        </p:spPr>
      </p:pic>
      <p:sp>
        <p:nvSpPr>
          <p:cNvPr id="287" name="Shape 6">
            <a:extLst>
              <a:ext uri="{FF2B5EF4-FFF2-40B4-BE49-F238E27FC236}">
                <a16:creationId xmlns:a16="http://schemas.microsoft.com/office/drawing/2014/main" id="{96039FA7-F524-A01C-DE98-FCEBC5F7B559}"/>
              </a:ext>
            </a:extLst>
          </p:cNvPr>
          <p:cNvSpPr/>
          <p:nvPr/>
        </p:nvSpPr>
        <p:spPr>
          <a:xfrm>
            <a:off x="548640" y="1764792"/>
            <a:ext cx="47091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C9A97C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9" name="Shape 7">
            <a:extLst>
              <a:ext uri="{FF2B5EF4-FFF2-40B4-BE49-F238E27FC236}">
                <a16:creationId xmlns:a16="http://schemas.microsoft.com/office/drawing/2014/main" id="{94B82E90-A704-AB3F-399D-AADA2DEBDE3B}"/>
              </a:ext>
            </a:extLst>
          </p:cNvPr>
          <p:cNvSpPr/>
          <p:nvPr/>
        </p:nvSpPr>
        <p:spPr>
          <a:xfrm>
            <a:off x="786384" y="1938528"/>
            <a:ext cx="384048" cy="384048"/>
          </a:xfrm>
          <a:prstGeom prst="roundRect">
            <a:avLst>
              <a:gd name="adj" fmla="val 26190"/>
            </a:avLst>
          </a:prstGeom>
          <a:solidFill>
            <a:srgbClr val="F6E7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1" name="Text 8">
            <a:extLst>
              <a:ext uri="{FF2B5EF4-FFF2-40B4-BE49-F238E27FC236}">
                <a16:creationId xmlns:a16="http://schemas.microsoft.com/office/drawing/2014/main" id="{896A0122-65A9-1F17-E6E2-6A898CAF30F7}"/>
              </a:ext>
            </a:extLst>
          </p:cNvPr>
          <p:cNvSpPr txBox="1"/>
          <p:nvPr/>
        </p:nvSpPr>
        <p:spPr>
          <a:xfrm>
            <a:off x="786384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F33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293" name="Text 9">
            <a:extLst>
              <a:ext uri="{FF2B5EF4-FFF2-40B4-BE49-F238E27FC236}">
                <a16:creationId xmlns:a16="http://schemas.microsoft.com/office/drawing/2014/main" id="{84315382-B512-B296-45EA-29E416E2F7D5}"/>
              </a:ext>
            </a:extLst>
          </p:cNvPr>
          <p:cNvSpPr txBox="1"/>
          <p:nvPr/>
        </p:nvSpPr>
        <p:spPr>
          <a:xfrm>
            <a:off x="1371600" y="1847088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F33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쿨메신저 새 쪽지</a:t>
            </a:r>
            <a:endParaRPr lang="en-US" sz="1700" dirty="0"/>
          </a:p>
        </p:txBody>
      </p:sp>
      <p:sp>
        <p:nvSpPr>
          <p:cNvPr id="295" name="Text 10">
            <a:extLst>
              <a:ext uri="{FF2B5EF4-FFF2-40B4-BE49-F238E27FC236}">
                <a16:creationId xmlns:a16="http://schemas.microsoft.com/office/drawing/2014/main" id="{471A0B42-0196-AA13-12B2-EA653E12995E}"/>
              </a:ext>
            </a:extLst>
          </p:cNvPr>
          <p:cNvSpPr txBox="1"/>
          <p:nvPr/>
        </p:nvSpPr>
        <p:spPr>
          <a:xfrm>
            <a:off x="1371600" y="21854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78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 업무 메신저로 오는 전달사항</a:t>
            </a:r>
            <a:endParaRPr lang="en-US" sz="1200" dirty="0"/>
          </a:p>
        </p:txBody>
      </p:sp>
      <p:sp>
        <p:nvSpPr>
          <p:cNvPr id="297" name="Text 11">
            <a:extLst>
              <a:ext uri="{FF2B5EF4-FFF2-40B4-BE49-F238E27FC236}">
                <a16:creationId xmlns:a16="http://schemas.microsoft.com/office/drawing/2014/main" id="{9BE9E48E-1C02-96BE-2A38-C3B701D2C6D8}"/>
              </a:ext>
            </a:extLst>
          </p:cNvPr>
          <p:cNvSpPr txBox="1"/>
          <p:nvPr/>
        </p:nvSpPr>
        <p:spPr>
          <a:xfrm>
            <a:off x="5330952" y="1764792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94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➜</a:t>
            </a:r>
            <a:endParaRPr lang="en-US" sz="2000" dirty="0"/>
          </a:p>
        </p:txBody>
      </p:sp>
      <p:sp>
        <p:nvSpPr>
          <p:cNvPr id="299" name="Shape 12">
            <a:extLst>
              <a:ext uri="{FF2B5EF4-FFF2-40B4-BE49-F238E27FC236}">
                <a16:creationId xmlns:a16="http://schemas.microsoft.com/office/drawing/2014/main" id="{1A813138-2B26-B688-8854-E4BF0A63D23F}"/>
              </a:ext>
            </a:extLst>
          </p:cNvPr>
          <p:cNvSpPr/>
          <p:nvPr/>
        </p:nvSpPr>
        <p:spPr>
          <a:xfrm>
            <a:off x="5989320" y="1764792"/>
            <a:ext cx="5650992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C9A97C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1" name="Text 13">
            <a:extLst>
              <a:ext uri="{FF2B5EF4-FFF2-40B4-BE49-F238E27FC236}">
                <a16:creationId xmlns:a16="http://schemas.microsoft.com/office/drawing/2014/main" id="{CD8F8268-A671-D37E-839B-DCAEE269495E}"/>
              </a:ext>
            </a:extLst>
          </p:cNvPr>
          <p:cNvSpPr txBox="1"/>
          <p:nvPr/>
        </p:nvSpPr>
        <p:spPr>
          <a:xfrm>
            <a:off x="6263640" y="184708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97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자동으로 가져오기</a:t>
            </a:r>
            <a:endParaRPr lang="en-US" sz="1700" dirty="0"/>
          </a:p>
        </p:txBody>
      </p:sp>
      <p:sp>
        <p:nvSpPr>
          <p:cNvPr id="303" name="Text 14">
            <a:extLst>
              <a:ext uri="{FF2B5EF4-FFF2-40B4-BE49-F238E27FC236}">
                <a16:creationId xmlns:a16="http://schemas.microsoft.com/office/drawing/2014/main" id="{E4C29368-3720-FDFD-673D-84D9516E7287}"/>
              </a:ext>
            </a:extLst>
          </p:cNvPr>
          <p:cNvSpPr txBox="1"/>
          <p:nvPr/>
        </p:nvSpPr>
        <p:spPr>
          <a:xfrm>
            <a:off x="6263640" y="2185416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5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쪽지를 주기적으로 확인해 처리 후보로 제시</a:t>
            </a:r>
            <a:endParaRPr lang="en-US" sz="1200" dirty="0"/>
          </a:p>
        </p:txBody>
      </p:sp>
      <p:sp>
        <p:nvSpPr>
          <p:cNvPr id="305" name="Shape 15">
            <a:extLst>
              <a:ext uri="{FF2B5EF4-FFF2-40B4-BE49-F238E27FC236}">
                <a16:creationId xmlns:a16="http://schemas.microsoft.com/office/drawing/2014/main" id="{94CC2B0C-888D-3CB3-4BBC-06F0B0E3BA70}"/>
              </a:ext>
            </a:extLst>
          </p:cNvPr>
          <p:cNvSpPr/>
          <p:nvPr/>
        </p:nvSpPr>
        <p:spPr>
          <a:xfrm>
            <a:off x="548640" y="2587752"/>
            <a:ext cx="47091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C9A97C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7" name="Shape 16">
            <a:extLst>
              <a:ext uri="{FF2B5EF4-FFF2-40B4-BE49-F238E27FC236}">
                <a16:creationId xmlns:a16="http://schemas.microsoft.com/office/drawing/2014/main" id="{06880974-DAFC-A115-F8FD-214CD86FB92B}"/>
              </a:ext>
            </a:extLst>
          </p:cNvPr>
          <p:cNvSpPr/>
          <p:nvPr/>
        </p:nvSpPr>
        <p:spPr>
          <a:xfrm>
            <a:off x="786384" y="2761488"/>
            <a:ext cx="384048" cy="384048"/>
          </a:xfrm>
          <a:prstGeom prst="roundRect">
            <a:avLst>
              <a:gd name="adj" fmla="val 26190"/>
            </a:avLst>
          </a:prstGeom>
          <a:solidFill>
            <a:srgbClr val="F7DEE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9" name="Text 17">
            <a:extLst>
              <a:ext uri="{FF2B5EF4-FFF2-40B4-BE49-F238E27FC236}">
                <a16:creationId xmlns:a16="http://schemas.microsoft.com/office/drawing/2014/main" id="{90C0DB3E-A886-8651-C88E-24E93156AA7B}"/>
              </a:ext>
            </a:extLst>
          </p:cNvPr>
          <p:cNvSpPr txBox="1"/>
          <p:nvPr/>
        </p:nvSpPr>
        <p:spPr>
          <a:xfrm>
            <a:off x="786384" y="2761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F33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311" name="Text 18">
            <a:extLst>
              <a:ext uri="{FF2B5EF4-FFF2-40B4-BE49-F238E27FC236}">
                <a16:creationId xmlns:a16="http://schemas.microsoft.com/office/drawing/2014/main" id="{02A46241-F2E1-55B8-25E8-BC161AE812AA}"/>
              </a:ext>
            </a:extLst>
          </p:cNvPr>
          <p:cNvSpPr txBox="1"/>
          <p:nvPr/>
        </p:nvSpPr>
        <p:spPr>
          <a:xfrm>
            <a:off x="1371600" y="2670048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F33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단체 채팅방 · 메모</a:t>
            </a:r>
            <a:endParaRPr lang="en-US" sz="1700" dirty="0"/>
          </a:p>
        </p:txBody>
      </p:sp>
      <p:sp>
        <p:nvSpPr>
          <p:cNvPr id="313" name="Text 19">
            <a:extLst>
              <a:ext uri="{FF2B5EF4-FFF2-40B4-BE49-F238E27FC236}">
                <a16:creationId xmlns:a16="http://schemas.microsoft.com/office/drawing/2014/main" id="{A3E8F1C1-2B9F-4F2B-DF08-7FAEAEE36594}"/>
              </a:ext>
            </a:extLst>
          </p:cNvPr>
          <p:cNvSpPr txBox="1"/>
          <p:nvPr/>
        </p:nvSpPr>
        <p:spPr>
          <a:xfrm>
            <a:off x="1371600" y="30083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78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단톡방 공지, 메모 앱에 적어둔 내용</a:t>
            </a:r>
            <a:endParaRPr lang="en-US" sz="1200" dirty="0"/>
          </a:p>
        </p:txBody>
      </p:sp>
      <p:sp>
        <p:nvSpPr>
          <p:cNvPr id="315" name="Text 20">
            <a:extLst>
              <a:ext uri="{FF2B5EF4-FFF2-40B4-BE49-F238E27FC236}">
                <a16:creationId xmlns:a16="http://schemas.microsoft.com/office/drawing/2014/main" id="{A2271E3E-3026-6500-5F57-1136B8042902}"/>
              </a:ext>
            </a:extLst>
          </p:cNvPr>
          <p:cNvSpPr txBox="1"/>
          <p:nvPr/>
        </p:nvSpPr>
        <p:spPr>
          <a:xfrm>
            <a:off x="5330952" y="2587752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94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➜</a:t>
            </a:r>
            <a:endParaRPr lang="en-US" sz="2000" dirty="0"/>
          </a:p>
        </p:txBody>
      </p:sp>
      <p:sp>
        <p:nvSpPr>
          <p:cNvPr id="317" name="Shape 21">
            <a:extLst>
              <a:ext uri="{FF2B5EF4-FFF2-40B4-BE49-F238E27FC236}">
                <a16:creationId xmlns:a16="http://schemas.microsoft.com/office/drawing/2014/main" id="{87D0A6F6-9B50-750E-F9AF-97B20A280EF4}"/>
              </a:ext>
            </a:extLst>
          </p:cNvPr>
          <p:cNvSpPr/>
          <p:nvPr/>
        </p:nvSpPr>
        <p:spPr>
          <a:xfrm>
            <a:off x="5989320" y="2587752"/>
            <a:ext cx="5650992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C9A97C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9" name="Text 22">
            <a:extLst>
              <a:ext uri="{FF2B5EF4-FFF2-40B4-BE49-F238E27FC236}">
                <a16:creationId xmlns:a16="http://schemas.microsoft.com/office/drawing/2014/main" id="{FBE32239-575A-B40E-043D-566C43FB2F9F}"/>
              </a:ext>
            </a:extLst>
          </p:cNvPr>
          <p:cNvSpPr txBox="1"/>
          <p:nvPr/>
        </p:nvSpPr>
        <p:spPr>
          <a:xfrm>
            <a:off x="6263640" y="267004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97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 · 붙여넣기</a:t>
            </a:r>
            <a:endParaRPr lang="en-US" sz="1700" dirty="0"/>
          </a:p>
        </p:txBody>
      </p:sp>
      <p:sp>
        <p:nvSpPr>
          <p:cNvPr id="321" name="Text 23">
            <a:extLst>
              <a:ext uri="{FF2B5EF4-FFF2-40B4-BE49-F238E27FC236}">
                <a16:creationId xmlns:a16="http://schemas.microsoft.com/office/drawing/2014/main" id="{FC3F4C2C-EECD-27A2-6705-FC56520CF2D0}"/>
              </a:ext>
            </a:extLst>
          </p:cNvPr>
          <p:cNvSpPr txBox="1"/>
          <p:nvPr/>
        </p:nvSpPr>
        <p:spPr>
          <a:xfrm>
            <a:off x="6263640" y="3008376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5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내용을 복사해 고양이 위에서 Ctrl+V 한 번</a:t>
            </a:r>
            <a:endParaRPr lang="en-US" sz="1200" dirty="0"/>
          </a:p>
        </p:txBody>
      </p:sp>
      <p:sp>
        <p:nvSpPr>
          <p:cNvPr id="323" name="Shape 24">
            <a:extLst>
              <a:ext uri="{FF2B5EF4-FFF2-40B4-BE49-F238E27FC236}">
                <a16:creationId xmlns:a16="http://schemas.microsoft.com/office/drawing/2014/main" id="{28D50129-D690-8AE2-B0EC-C9F1C3C8D67A}"/>
              </a:ext>
            </a:extLst>
          </p:cNvPr>
          <p:cNvSpPr/>
          <p:nvPr/>
        </p:nvSpPr>
        <p:spPr>
          <a:xfrm>
            <a:off x="548640" y="3410712"/>
            <a:ext cx="47091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C9A97C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5" name="Shape 25">
            <a:extLst>
              <a:ext uri="{FF2B5EF4-FFF2-40B4-BE49-F238E27FC236}">
                <a16:creationId xmlns:a16="http://schemas.microsoft.com/office/drawing/2014/main" id="{ED84FBFC-7A35-827A-AFD5-334A760DCE65}"/>
              </a:ext>
            </a:extLst>
          </p:cNvPr>
          <p:cNvSpPr/>
          <p:nvPr/>
        </p:nvSpPr>
        <p:spPr>
          <a:xfrm>
            <a:off x="786384" y="3584448"/>
            <a:ext cx="384048" cy="384048"/>
          </a:xfrm>
          <a:prstGeom prst="roundRect">
            <a:avLst>
              <a:gd name="adj" fmla="val 26190"/>
            </a:avLst>
          </a:prstGeom>
          <a:solidFill>
            <a:srgbClr val="D9EB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7" name="Text 26">
            <a:extLst>
              <a:ext uri="{FF2B5EF4-FFF2-40B4-BE49-F238E27FC236}">
                <a16:creationId xmlns:a16="http://schemas.microsoft.com/office/drawing/2014/main" id="{91C27D1A-B44D-5EA9-0020-E45A38F9169C}"/>
              </a:ext>
            </a:extLst>
          </p:cNvPr>
          <p:cNvSpPr txBox="1"/>
          <p:nvPr/>
        </p:nvSpPr>
        <p:spPr>
          <a:xfrm>
            <a:off x="786384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F33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329" name="Text 27">
            <a:extLst>
              <a:ext uri="{FF2B5EF4-FFF2-40B4-BE49-F238E27FC236}">
                <a16:creationId xmlns:a16="http://schemas.microsoft.com/office/drawing/2014/main" id="{BE0F454B-68BF-0523-3959-D56988FEEC12}"/>
              </a:ext>
            </a:extLst>
          </p:cNvPr>
          <p:cNvSpPr txBox="1"/>
          <p:nvPr/>
        </p:nvSpPr>
        <p:spPr>
          <a:xfrm>
            <a:off x="1371600" y="3493008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F33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에듀파인 공문 · 안내문</a:t>
            </a:r>
            <a:endParaRPr lang="en-US" sz="1700" dirty="0"/>
          </a:p>
        </p:txBody>
      </p:sp>
      <p:sp>
        <p:nvSpPr>
          <p:cNvPr id="331" name="Text 28">
            <a:extLst>
              <a:ext uri="{FF2B5EF4-FFF2-40B4-BE49-F238E27FC236}">
                <a16:creationId xmlns:a16="http://schemas.microsoft.com/office/drawing/2014/main" id="{2B1C935E-E35B-67BA-2800-44AE2C9DF372}"/>
              </a:ext>
            </a:extLst>
          </p:cNvPr>
          <p:cNvSpPr txBox="1"/>
          <p:nvPr/>
        </p:nvSpPr>
        <p:spPr>
          <a:xfrm>
            <a:off x="1371600" y="38313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78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한글·PDF 파일, 화면 캡처 이미지</a:t>
            </a:r>
            <a:endParaRPr lang="en-US" sz="1200" dirty="0"/>
          </a:p>
        </p:txBody>
      </p:sp>
      <p:sp>
        <p:nvSpPr>
          <p:cNvPr id="333" name="Text 29">
            <a:extLst>
              <a:ext uri="{FF2B5EF4-FFF2-40B4-BE49-F238E27FC236}">
                <a16:creationId xmlns:a16="http://schemas.microsoft.com/office/drawing/2014/main" id="{FE0B9472-88BA-A917-C028-B090181D2A90}"/>
              </a:ext>
            </a:extLst>
          </p:cNvPr>
          <p:cNvSpPr txBox="1"/>
          <p:nvPr/>
        </p:nvSpPr>
        <p:spPr>
          <a:xfrm>
            <a:off x="5330952" y="3410712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94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➜</a:t>
            </a:r>
            <a:endParaRPr lang="en-US" sz="2000" dirty="0"/>
          </a:p>
        </p:txBody>
      </p:sp>
      <p:sp>
        <p:nvSpPr>
          <p:cNvPr id="335" name="Shape 30">
            <a:extLst>
              <a:ext uri="{FF2B5EF4-FFF2-40B4-BE49-F238E27FC236}">
                <a16:creationId xmlns:a16="http://schemas.microsoft.com/office/drawing/2014/main" id="{6872AE72-6ACC-3853-9C6D-9F1D0E5ACA8A}"/>
              </a:ext>
            </a:extLst>
          </p:cNvPr>
          <p:cNvSpPr/>
          <p:nvPr/>
        </p:nvSpPr>
        <p:spPr>
          <a:xfrm>
            <a:off x="5989320" y="3410712"/>
            <a:ext cx="5650992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C9A97C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7" name="Text 31">
            <a:extLst>
              <a:ext uri="{FF2B5EF4-FFF2-40B4-BE49-F238E27FC236}">
                <a16:creationId xmlns:a16="http://schemas.microsoft.com/office/drawing/2014/main" id="{7CE16A9D-2924-327D-6A7C-CD4EBED926F5}"/>
              </a:ext>
            </a:extLst>
          </p:cNvPr>
          <p:cNvSpPr txBox="1"/>
          <p:nvPr/>
        </p:nvSpPr>
        <p:spPr>
          <a:xfrm>
            <a:off x="6263640" y="349300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97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드래그 앤 드롭 · 캡처</a:t>
            </a:r>
            <a:endParaRPr lang="en-US" sz="1700" dirty="0"/>
          </a:p>
        </p:txBody>
      </p:sp>
      <p:sp>
        <p:nvSpPr>
          <p:cNvPr id="339" name="Text 32">
            <a:extLst>
              <a:ext uri="{FF2B5EF4-FFF2-40B4-BE49-F238E27FC236}">
                <a16:creationId xmlns:a16="http://schemas.microsoft.com/office/drawing/2014/main" id="{A2C6CC55-FAE1-DDD3-37E3-5A3AAA90801E}"/>
              </a:ext>
            </a:extLst>
          </p:cNvPr>
          <p:cNvSpPr txBox="1"/>
          <p:nvPr/>
        </p:nvSpPr>
        <p:spPr>
          <a:xfrm>
            <a:off x="6263640" y="3831336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5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파일을 끌어다 놓거나, 캡처해서 붙여넣기</a:t>
            </a:r>
            <a:endParaRPr lang="en-US" sz="1200" dirty="0"/>
          </a:p>
        </p:txBody>
      </p:sp>
      <p:sp>
        <p:nvSpPr>
          <p:cNvPr id="341" name="Shape 33">
            <a:extLst>
              <a:ext uri="{FF2B5EF4-FFF2-40B4-BE49-F238E27FC236}">
                <a16:creationId xmlns:a16="http://schemas.microsoft.com/office/drawing/2014/main" id="{DF8CED5E-1998-7F3B-6A45-D6903866C716}"/>
              </a:ext>
            </a:extLst>
          </p:cNvPr>
          <p:cNvSpPr/>
          <p:nvPr/>
        </p:nvSpPr>
        <p:spPr>
          <a:xfrm>
            <a:off x="548640" y="4233672"/>
            <a:ext cx="47091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C9A97C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43" name="Shape 34">
            <a:extLst>
              <a:ext uri="{FF2B5EF4-FFF2-40B4-BE49-F238E27FC236}">
                <a16:creationId xmlns:a16="http://schemas.microsoft.com/office/drawing/2014/main" id="{6182F035-4E82-E3F9-1037-7412F405594F}"/>
              </a:ext>
            </a:extLst>
          </p:cNvPr>
          <p:cNvSpPr/>
          <p:nvPr/>
        </p:nvSpPr>
        <p:spPr>
          <a:xfrm>
            <a:off x="786384" y="4407408"/>
            <a:ext cx="384048" cy="384048"/>
          </a:xfrm>
          <a:prstGeom prst="roundRect">
            <a:avLst>
              <a:gd name="adj" fmla="val 26190"/>
            </a:avLst>
          </a:prstGeom>
          <a:solidFill>
            <a:srgbClr val="DCE4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5" name="Text 35">
            <a:extLst>
              <a:ext uri="{FF2B5EF4-FFF2-40B4-BE49-F238E27FC236}">
                <a16:creationId xmlns:a16="http://schemas.microsoft.com/office/drawing/2014/main" id="{248A3DE0-87BB-65B3-34A9-48F447C2B242}"/>
              </a:ext>
            </a:extLst>
          </p:cNvPr>
          <p:cNvSpPr txBox="1"/>
          <p:nvPr/>
        </p:nvSpPr>
        <p:spPr>
          <a:xfrm>
            <a:off x="786384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F33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347" name="Text 36">
            <a:extLst>
              <a:ext uri="{FF2B5EF4-FFF2-40B4-BE49-F238E27FC236}">
                <a16:creationId xmlns:a16="http://schemas.microsoft.com/office/drawing/2014/main" id="{0104370E-8413-5FCA-E779-B9C42F6347A9}"/>
              </a:ext>
            </a:extLst>
          </p:cNvPr>
          <p:cNvSpPr txBox="1"/>
          <p:nvPr/>
        </p:nvSpPr>
        <p:spPr>
          <a:xfrm>
            <a:off x="1371600" y="4315968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F33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 · 구두 전달</a:t>
            </a:r>
            <a:endParaRPr lang="en-US" sz="1700" dirty="0"/>
          </a:p>
        </p:txBody>
      </p:sp>
      <p:sp>
        <p:nvSpPr>
          <p:cNvPr id="349" name="Text 37">
            <a:extLst>
              <a:ext uri="{FF2B5EF4-FFF2-40B4-BE49-F238E27FC236}">
                <a16:creationId xmlns:a16="http://schemas.microsoft.com/office/drawing/2014/main" id="{7B36DB4D-7DC0-AA01-F0D8-16709D2569D5}"/>
              </a:ext>
            </a:extLst>
          </p:cNvPr>
          <p:cNvSpPr txBox="1"/>
          <p:nvPr/>
        </p:nvSpPr>
        <p:spPr>
          <a:xfrm>
            <a:off x="1371600" y="46542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78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문득 떠오른 일정, 이동 중 메모</a:t>
            </a:r>
            <a:endParaRPr lang="en-US" sz="1200" dirty="0"/>
          </a:p>
        </p:txBody>
      </p:sp>
      <p:sp>
        <p:nvSpPr>
          <p:cNvPr id="351" name="Text 38">
            <a:extLst>
              <a:ext uri="{FF2B5EF4-FFF2-40B4-BE49-F238E27FC236}">
                <a16:creationId xmlns:a16="http://schemas.microsoft.com/office/drawing/2014/main" id="{CA7E9723-09A8-72E2-0972-DFBA26571132}"/>
              </a:ext>
            </a:extLst>
          </p:cNvPr>
          <p:cNvSpPr txBox="1"/>
          <p:nvPr/>
        </p:nvSpPr>
        <p:spPr>
          <a:xfrm>
            <a:off x="5330952" y="4233672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94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➜</a:t>
            </a:r>
            <a:endParaRPr lang="en-US" sz="2000" dirty="0"/>
          </a:p>
        </p:txBody>
      </p:sp>
      <p:sp>
        <p:nvSpPr>
          <p:cNvPr id="353" name="Shape 39">
            <a:extLst>
              <a:ext uri="{FF2B5EF4-FFF2-40B4-BE49-F238E27FC236}">
                <a16:creationId xmlns:a16="http://schemas.microsoft.com/office/drawing/2014/main" id="{C9E65937-3D29-A393-F263-6FCA4B63154D}"/>
              </a:ext>
            </a:extLst>
          </p:cNvPr>
          <p:cNvSpPr/>
          <p:nvPr/>
        </p:nvSpPr>
        <p:spPr>
          <a:xfrm>
            <a:off x="5989320" y="4233672"/>
            <a:ext cx="5650992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C9A97C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5" name="Text 40">
            <a:extLst>
              <a:ext uri="{FF2B5EF4-FFF2-40B4-BE49-F238E27FC236}">
                <a16:creationId xmlns:a16="http://schemas.microsoft.com/office/drawing/2014/main" id="{8FD86E89-89CB-C798-1B2B-CBF24DABF24E}"/>
              </a:ext>
            </a:extLst>
          </p:cNvPr>
          <p:cNvSpPr txBox="1"/>
          <p:nvPr/>
        </p:nvSpPr>
        <p:spPr>
          <a:xfrm>
            <a:off x="6263640" y="431596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97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휴대폰 음성 입력</a:t>
            </a:r>
            <a:endParaRPr lang="en-US" sz="1700" dirty="0"/>
          </a:p>
        </p:txBody>
      </p:sp>
      <p:sp>
        <p:nvSpPr>
          <p:cNvPr id="357" name="Text 41">
            <a:extLst>
              <a:ext uri="{FF2B5EF4-FFF2-40B4-BE49-F238E27FC236}">
                <a16:creationId xmlns:a16="http://schemas.microsoft.com/office/drawing/2014/main" id="{65744B10-B09F-BF25-EBD3-A7AC0F369ABE}"/>
              </a:ext>
            </a:extLst>
          </p:cNvPr>
          <p:cNvSpPr txBox="1"/>
          <p:nvPr/>
        </p:nvSpPr>
        <p:spPr>
          <a:xfrm>
            <a:off x="6263640" y="4654296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5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Tasks 인박스에 남기면 불러와 정리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C57F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F33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개인정보는 외부로 나가기 전, 로컬에서 차단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13385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78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메시지 · 규칙 기반 + 경량 토큰 분류 모델의 2단 로컬 비식별화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5349240" cy="2057400"/>
          </a:xfrm>
          <a:prstGeom prst="roundRect">
            <a:avLst>
              <a:gd name="adj" fmla="val 4444"/>
            </a:avLst>
          </a:prstGeom>
          <a:solidFill>
            <a:srgbClr val="C57F35"/>
          </a:solidFill>
          <a:ln w="12700">
            <a:solidFill>
              <a:srgbClr val="C57F35"/>
            </a:solidFill>
            <a:prstDash val="solid"/>
          </a:ln>
          <a:effectLst>
            <a:outerShdw blurRad="127000" dist="25400" dir="5400000" algn="bl" rotWithShape="0">
              <a:srgbClr val="C9A97C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914400" y="201168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기반 탐지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60604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주민등록번호 · </a:t>
            </a:r>
            <a:r>
              <a:rPr lang="en-US" sz="16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전화번호처럼</a:t>
            </a: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형식이</a:t>
            </a: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분명한</a:t>
            </a: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>
              <a:lnSpc>
                <a:spcPts val="2400"/>
              </a:lnSpc>
              <a:buNone/>
            </a:pPr>
            <a:r>
              <a:rPr lang="en-US" sz="16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식별자를</a:t>
            </a: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로컬에서</a:t>
            </a: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즉시 마스킹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91072" y="1737360"/>
            <a:ext cx="53492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C9A97C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6656832" y="201168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F33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경량 토큰 분류 모델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656832" y="260604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6B5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 · 학교명처럼 </a:t>
            </a:r>
            <a:r>
              <a:rPr lang="en-US" sz="1500" dirty="0" err="1">
                <a:solidFill>
                  <a:srgbClr val="6B5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문맥</a:t>
            </a:r>
            <a:r>
              <a:rPr lang="en-US" sz="1500" dirty="0">
                <a:solidFill>
                  <a:srgbClr val="6B5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500" dirty="0" err="1">
                <a:solidFill>
                  <a:srgbClr val="6B5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판단이</a:t>
            </a:r>
            <a:r>
              <a:rPr lang="en-US" sz="1500" dirty="0">
                <a:solidFill>
                  <a:srgbClr val="6B5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500" dirty="0" err="1">
                <a:solidFill>
                  <a:srgbClr val="6B5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</a:t>
            </a:r>
            <a:r>
              <a:rPr lang="en-US" sz="1500" dirty="0">
                <a:solidFill>
                  <a:srgbClr val="6B5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500" dirty="0" err="1">
                <a:solidFill>
                  <a:srgbClr val="6B5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정보를</a:t>
            </a:r>
            <a:r>
              <a:rPr lang="en-US" sz="1500" dirty="0">
                <a:solidFill>
                  <a:srgbClr val="6B5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Encoder-only </a:t>
            </a:r>
            <a:r>
              <a:rPr lang="en-US" sz="1500" dirty="0" err="1">
                <a:solidFill>
                  <a:srgbClr val="6B5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모델로</a:t>
            </a:r>
            <a:r>
              <a:rPr lang="en-US" sz="1500" dirty="0">
                <a:solidFill>
                  <a:srgbClr val="6B5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로컬에서 탐지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550229"/>
            <a:ext cx="246888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BDC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548640" y="4550229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F33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017520" y="4550229"/>
            <a:ext cx="4023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78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19856" y="4550229"/>
            <a:ext cx="2468880" cy="685800"/>
          </a:xfrm>
          <a:prstGeom prst="roundRect">
            <a:avLst>
              <a:gd name="adj" fmla="val 13333"/>
            </a:avLst>
          </a:prstGeom>
          <a:solidFill>
            <a:srgbClr val="F6E7CE"/>
          </a:solidFill>
          <a:ln w="19050">
            <a:solidFill>
              <a:srgbClr val="D994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3419856" y="4550229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97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탐지 · 마스킹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888736" y="4550229"/>
            <a:ext cx="4023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78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91072" y="4550229"/>
            <a:ext cx="246888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BDC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6291072" y="4550229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F33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비식별 텍스트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759952" y="4550229"/>
            <a:ext cx="4023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78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62288" y="4550229"/>
            <a:ext cx="246888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BDC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9162288" y="4550229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F33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AI 분석</a:t>
            </a:r>
            <a:endParaRPr lang="en-US" sz="1400" dirty="0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B1E8BF5-FFAA-1F9D-5276-3A51FB05C6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0786" y="5385380"/>
            <a:ext cx="1426029" cy="142602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C57F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3F33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단계별</a:t>
            </a:r>
            <a:r>
              <a:rPr lang="en-US" sz="2800" b="1" dirty="0">
                <a:solidFill>
                  <a:srgbClr val="3F33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하네스로 성능을 끌어올림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13385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78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메시지 · 한 번에 다 시키지 않고, 좁은 판단으로 쪼갠다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4747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C9A97C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804672" y="1874520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97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</a:t>
            </a:r>
            <a:r>
              <a:rPr lang="ko-KR" altLang="en-US" sz="1600" b="1" dirty="0">
                <a:solidFill>
                  <a:srgbClr val="B97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추출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2860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ko-KR" altLang="en-US" sz="1300" dirty="0">
                <a:solidFill>
                  <a:srgbClr val="6B5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입력에서 기록해야 할 </a:t>
            </a:r>
            <a:endParaRPr lang="en-US" altLang="ko-KR" sz="1300" dirty="0">
              <a:solidFill>
                <a:srgbClr val="6B5A49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lnSpc>
                <a:spcPts val="1900"/>
              </a:lnSpc>
              <a:buNone/>
            </a:pPr>
            <a:r>
              <a:rPr lang="ko-KR" altLang="en-US" sz="1300" dirty="0">
                <a:solidFill>
                  <a:srgbClr val="6B5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일정이나 업무를 추출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023360" y="1737360"/>
            <a:ext cx="3291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78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52544" y="1737360"/>
            <a:ext cx="34747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C9A97C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4608576" y="1874520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B97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</a:t>
            </a:r>
            <a:r>
              <a:rPr lang="ko-KR" altLang="en-US" sz="1600" b="1" dirty="0">
                <a:solidFill>
                  <a:srgbClr val="B97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</a:t>
            </a:r>
            <a:r>
              <a:rPr lang="en-US" altLang="ko-KR" sz="1600" b="1" dirty="0">
                <a:solidFill>
                  <a:srgbClr val="B97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r>
              <a:rPr lang="ko-KR" altLang="en-US" sz="1600" b="1" dirty="0">
                <a:solidFill>
                  <a:srgbClr val="B97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08576" y="22860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900"/>
              </a:lnSpc>
            </a:pPr>
            <a:r>
              <a:rPr lang="ko-KR" altLang="en-US" sz="1300" dirty="0">
                <a:solidFill>
                  <a:srgbClr val="6B5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나의 업무인지 판단</a:t>
            </a:r>
            <a:endParaRPr lang="en-US" altLang="ko-KR" sz="1300" dirty="0">
              <a:solidFill>
                <a:srgbClr val="6B5A49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>
              <a:lnSpc>
                <a:spcPts val="1900"/>
              </a:lnSpc>
            </a:pPr>
            <a:r>
              <a:rPr lang="en-US" altLang="ko-KR" sz="1300" dirty="0" err="1">
                <a:solidFill>
                  <a:srgbClr val="6B5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</a:t>
            </a:r>
            <a:r>
              <a:rPr lang="en-US" altLang="ko-KR" sz="1300" dirty="0">
                <a:solidFill>
                  <a:srgbClr val="6B5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/할 일 </a:t>
            </a:r>
            <a:r>
              <a:rPr lang="en-US" altLang="ko-KR" sz="1300" dirty="0" err="1">
                <a:solidFill>
                  <a:srgbClr val="6B5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</a:t>
            </a:r>
            <a:r>
              <a:rPr lang="en-US" altLang="ko-KR" sz="1300" dirty="0">
                <a:solidFill>
                  <a:srgbClr val="6B5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1300" dirty="0" err="1">
                <a:solidFill>
                  <a:srgbClr val="6B5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상대</a:t>
            </a:r>
            <a:r>
              <a:rPr lang="en-US" altLang="ko-KR" sz="1300" dirty="0">
                <a:solidFill>
                  <a:srgbClr val="6B5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300" dirty="0" err="1">
                <a:solidFill>
                  <a:srgbClr val="6B5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</a:t>
            </a:r>
            <a:r>
              <a:rPr lang="en-US" altLang="ko-KR" sz="1300" dirty="0">
                <a:solidFill>
                  <a:srgbClr val="6B5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300" dirty="0" err="1">
                <a:solidFill>
                  <a:srgbClr val="6B5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</a:t>
            </a:r>
            <a:r>
              <a:rPr lang="en-US" altLang="ko-KR" sz="1300" dirty="0">
                <a:solidFill>
                  <a:srgbClr val="6B5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</a:t>
            </a:r>
            <a:endParaRPr lang="en-US" altLang="ko-KR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827264" y="1737360"/>
            <a:ext cx="3291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78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56448" y="1737360"/>
            <a:ext cx="34747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C9A97C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8412480" y="1874520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97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</a:t>
            </a:r>
            <a:r>
              <a:rPr lang="en-US" sz="1600" b="1" dirty="0" err="1">
                <a:solidFill>
                  <a:srgbClr val="B97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22860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ko-KR" altLang="en-US" sz="1300" dirty="0"/>
              <a:t>출력된 형식이 맞는지</a:t>
            </a:r>
            <a:r>
              <a:rPr lang="en-US" altLang="ko-KR" sz="1300" dirty="0"/>
              <a:t>, </a:t>
            </a:r>
            <a:r>
              <a:rPr lang="ko-KR" altLang="en-US" sz="1300" dirty="0"/>
              <a:t>규칙기반 검증기와 사람이 검토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3504" y="3822192"/>
            <a:ext cx="128016" cy="128016"/>
          </a:xfrm>
          <a:prstGeom prst="ellipse">
            <a:avLst/>
          </a:prstGeom>
          <a:solidFill>
            <a:srgbClr val="D994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932688" y="370332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F33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혼동 감소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32688" y="4032504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5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단계에서 하나만 판단하게 해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5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지시가 섞이며 생기는 오류를 줄임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407408" y="3822192"/>
            <a:ext cx="128016" cy="128016"/>
          </a:xfrm>
          <a:prstGeom prst="ellipse">
            <a:avLst/>
          </a:prstGeom>
          <a:solidFill>
            <a:srgbClr val="D994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4736592" y="370332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F33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출력이 안정적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736592" y="4032504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5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단계마다 형식이 고정되어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5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후속 처리와 검증이 쉬움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211312" y="3822192"/>
            <a:ext cx="128016" cy="128016"/>
          </a:xfrm>
          <a:prstGeom prst="ellipse">
            <a:avLst/>
          </a:prstGeom>
          <a:solidFill>
            <a:srgbClr val="D994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8540496" y="370332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F33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모델에도 유리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540496" y="4032504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5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Ollama 같은 소형 모델에서도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5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쓸 만한 품질을 확보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1" y="5285232"/>
            <a:ext cx="9346474" cy="841248"/>
          </a:xfrm>
          <a:prstGeom prst="roundRect">
            <a:avLst>
              <a:gd name="adj" fmla="val 13043"/>
            </a:avLst>
          </a:prstGeom>
          <a:solidFill>
            <a:srgbClr val="F6E7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868680" y="5285232"/>
            <a:ext cx="104543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F5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하나에 모든 것을 맡기지 않고, 단계로 나누어 정확도를 만든다.</a:t>
            </a:r>
            <a:endParaRPr lang="en-US" sz="1500" dirty="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15A2BCE1-BBD0-A112-B9A5-1B84FDB5BC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5819" y="5243648"/>
            <a:ext cx="1494391" cy="149439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C57F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F33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서비스를 만들지 않고 Google Calendar·Tasks 활용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13385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78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메시지 · AI는 정리하고, 관리는 검증된 도구에 맡긴다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C57F35"/>
          </a:solidFill>
          <a:ln w="12700">
            <a:solidFill>
              <a:srgbClr val="C57F35"/>
            </a:solidFill>
            <a:prstDash val="solid"/>
          </a:ln>
          <a:effectLst>
            <a:outerShdw blurRad="127000" dist="25400" dir="5400000" algn="bl" rotWithShape="0">
              <a:srgbClr val="C9A97C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841248" y="19385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2402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Calendar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91072" y="1783080"/>
            <a:ext cx="5349240" cy="1234440"/>
          </a:xfrm>
          <a:prstGeom prst="roundRect">
            <a:avLst>
              <a:gd name="adj" fmla="val 7407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C9A97C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6583680" y="19385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78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할 일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2402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F33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Tasks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03504" y="3429000"/>
            <a:ext cx="128016" cy="128016"/>
          </a:xfrm>
          <a:prstGeom prst="ellipse">
            <a:avLst/>
          </a:prstGeom>
          <a:solidFill>
            <a:srgbClr val="D994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932688" y="331012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F33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동기화 그대로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932688" y="361188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5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모바일·PC 간 Google 동기화를 그대로 활용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45936" y="3429000"/>
            <a:ext cx="128016" cy="128016"/>
          </a:xfrm>
          <a:prstGeom prst="ellipse">
            <a:avLst/>
          </a:prstGeom>
          <a:solidFill>
            <a:srgbClr val="D994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6675120" y="331012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F33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안정화된 기능 사용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675120" y="361188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5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알림, 반복 일정, 완료 처리 등을 그대로 이용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03504" y="4343400"/>
            <a:ext cx="128016" cy="128016"/>
          </a:xfrm>
          <a:prstGeom prst="ellipse">
            <a:avLst/>
          </a:prstGeom>
          <a:solidFill>
            <a:srgbClr val="D994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932688" y="422452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3F332A"/>
                </a:solidFill>
                <a:latin typeface="Malgun Gothic" pitchFamily="34" charset="0"/>
                <a:ea typeface="Malgun Gothic" pitchFamily="34" charset="-122"/>
              </a:rPr>
              <a:t>개인정보 유출 없는 구글 캘린더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932688" y="452628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5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별도의 </a:t>
            </a:r>
            <a:r>
              <a:rPr lang="en-US" sz="1300" dirty="0" err="1">
                <a:solidFill>
                  <a:srgbClr val="6B5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일정관리</a:t>
            </a:r>
            <a:r>
              <a:rPr lang="en-US" sz="1300" dirty="0">
                <a:solidFill>
                  <a:srgbClr val="6B5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DB</a:t>
            </a:r>
            <a:r>
              <a:rPr lang="ko-KR" altLang="en-US" sz="1300" dirty="0">
                <a:solidFill>
                  <a:srgbClr val="6B5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없이 사용자의 구글 계정에만 데이터 저장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45936" y="4343400"/>
            <a:ext cx="128016" cy="128016"/>
          </a:xfrm>
          <a:prstGeom prst="ellipse">
            <a:avLst/>
          </a:prstGeom>
          <a:solidFill>
            <a:srgbClr val="D994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6675120" y="422452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F33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언제든 확인 가능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675120" y="452628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5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프로그램을 켜지 않아도 Google에서 업무 확인</a:t>
            </a:r>
            <a:endParaRPr lang="en-US" sz="1300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0E85AE55-DFCE-2353-FC53-74F34A9287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6614" y="5241471"/>
            <a:ext cx="1616529" cy="16165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C57F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F33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한구석의 고양이, 개입은 최소로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13385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78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메시지 · 프로그램을 여는 순간 자체를 없앤 인터페이스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" y="1901952"/>
            <a:ext cx="128016" cy="128016"/>
          </a:xfrm>
          <a:prstGeom prst="ellipse">
            <a:avLst/>
          </a:prstGeom>
          <a:solidFill>
            <a:srgbClr val="D994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960120" y="1783080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F33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항상 곁에 있는 작은 위젯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103120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5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창을 열고 닫는 과정 없이, 던지면 바로 처리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" y="2724912"/>
            <a:ext cx="128016" cy="128016"/>
          </a:xfrm>
          <a:prstGeom prst="ellipse">
            <a:avLst/>
          </a:prstGeom>
          <a:solidFill>
            <a:srgbClr val="D994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960120" y="2606040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F33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표정으로 알리는 상태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2926080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5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 · 서류 찾는 중 · 분석 중 · 완료 · 오류를 한눈에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" y="3547872"/>
            <a:ext cx="128016" cy="128016"/>
          </a:xfrm>
          <a:prstGeom prst="ellipse">
            <a:avLst/>
          </a:prstGeom>
          <a:solidFill>
            <a:srgbClr val="D994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960120" y="3429000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F33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방해하지 않는 존재감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3749040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5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크기 조절, 트레이로 숨기기, 작업표시줄 미점유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3504" y="4370832"/>
            <a:ext cx="128016" cy="128016"/>
          </a:xfrm>
          <a:prstGeom prst="ellipse">
            <a:avLst/>
          </a:prstGeom>
          <a:solidFill>
            <a:srgbClr val="D994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960120" y="4251960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F33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연달아 넣어도 순서대로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4572000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5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자료를 던져도 통합 큐에서 차례로 처리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12280" y="1737360"/>
            <a:ext cx="4828032" cy="3426312"/>
          </a:xfrm>
          <a:prstGeom prst="roundRect">
            <a:avLst>
              <a:gd name="adj" fmla="val 2778"/>
            </a:avLst>
          </a:prstGeom>
          <a:solidFill>
            <a:srgbClr val="F6E7CE"/>
          </a:solidFill>
          <a:ln w="12700">
            <a:solidFill>
              <a:srgbClr val="F6E7C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7543800" y="1920240"/>
            <a:ext cx="3776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7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고양이의 상태 표시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543800" y="2331720"/>
            <a:ext cx="3776472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7772400" y="23317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33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 중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189720" y="2331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78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뭐든 던져주세요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543800" y="2953512"/>
            <a:ext cx="3776472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7772400" y="295351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33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서류 뒤지는 중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189720" y="295351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78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읽기 · 쪽지 확인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543800" y="3575304"/>
            <a:ext cx="3776472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7772400" y="3575304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33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냠냠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189720" y="357530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78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일정 분석 중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543800" y="4197096"/>
            <a:ext cx="3776472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 txBox="1"/>
          <p:nvPr/>
        </p:nvSpPr>
        <p:spPr>
          <a:xfrm>
            <a:off x="7772400" y="419709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33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완료!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189720" y="419709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78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캘린더 · 태스크 등록</a:t>
            </a:r>
            <a:endParaRPr lang="en-US" sz="1200" dirty="0"/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A54AB585-ADA5-3A14-990F-A756053C1F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3288" y="2275549"/>
            <a:ext cx="650531" cy="650531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D689FF19-DD92-8AE9-61EA-EA78256A4B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2716" y="2845743"/>
            <a:ext cx="702129" cy="702129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27CA93FD-7B98-B424-C647-61704C80B8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8876" y="3520440"/>
            <a:ext cx="704088" cy="704088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FE1447A0-5B8E-6913-E895-DB21985597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2716" y="4142232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C57F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F33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교사의 언어와 맥락을 이해하는 추출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13385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78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메시지 · 학교 현장의 표현을 그대로 알아듣는 설계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47472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C9A97C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804672" y="1956816"/>
            <a:ext cx="146304" cy="292608"/>
          </a:xfrm>
          <a:prstGeom prst="roundRect">
            <a:avLst>
              <a:gd name="adj" fmla="val 43750"/>
            </a:avLst>
          </a:prstGeom>
          <a:solidFill>
            <a:srgbClr val="F6E7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1078992" y="19202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F33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역할 기반 필터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340864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5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담임 학년·담당 교과를 등록하면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5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나와 무관한 쪽지는 알림만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52544" y="1737360"/>
            <a:ext cx="347472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C9A97C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608576" y="1956816"/>
            <a:ext cx="146304" cy="292608"/>
          </a:xfrm>
          <a:prstGeom prst="roundRect">
            <a:avLst>
              <a:gd name="adj" fmla="val 43750"/>
            </a:avLst>
          </a:prstGeom>
          <a:solidFill>
            <a:srgbClr val="F7DEE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4882896" y="19202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F33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 시간 해석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08576" y="2340864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5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“3교시”, “점심시간”, “퇴근 전”을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5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시각으로 변환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56448" y="1737360"/>
            <a:ext cx="347472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C9A97C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8412480" y="1956816"/>
            <a:ext cx="146304" cy="292608"/>
          </a:xfrm>
          <a:prstGeom prst="roundRect">
            <a:avLst>
              <a:gd name="adj" fmla="val 43750"/>
            </a:avLst>
          </a:prstGeom>
          <a:solidFill>
            <a:srgbClr val="D9EBD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8686800" y="19202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F33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상대 날짜 해석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2340864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5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“다음 주 목요일” 같은 표현과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5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주간계획서의 여러 항목 처리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401568"/>
            <a:ext cx="347472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C9A97C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804672" y="3621024"/>
            <a:ext cx="146304" cy="292608"/>
          </a:xfrm>
          <a:prstGeom prst="roundRect">
            <a:avLst>
              <a:gd name="adj" fmla="val 43750"/>
            </a:avLst>
          </a:prstGeom>
          <a:solidFill>
            <a:srgbClr val="DCE4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1078992" y="35844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F33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/ 할 일 자동 분리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04672" y="400507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5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날짜가 없어도 할 일로 추출하고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5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캘린더·Tasks 양쪽 등록 가능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352544" y="3401568"/>
            <a:ext cx="347472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C9A97C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608576" y="3621024"/>
            <a:ext cx="146304" cy="292608"/>
          </a:xfrm>
          <a:prstGeom prst="roundRect">
            <a:avLst>
              <a:gd name="adj" fmla="val 43750"/>
            </a:avLst>
          </a:prstGeom>
          <a:solidFill>
            <a:srgbClr val="F6E7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4882896" y="35844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F33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 전 검토 창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4608576" y="400507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5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항목별로 대상·알람·내용을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5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확인하고 수정한 뒤 등록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156448" y="3401568"/>
            <a:ext cx="347472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C9A97C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8412480" y="3621024"/>
            <a:ext cx="146304" cy="292608"/>
          </a:xfrm>
          <a:prstGeom prst="roundRect">
            <a:avLst>
              <a:gd name="adj" fmla="val 43750"/>
            </a:avLst>
          </a:prstGeom>
          <a:solidFill>
            <a:srgbClr val="F7DEE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8686800" y="35844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F33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검사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412480" y="400507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5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항목과 비교해 건너뛰기 ·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5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갱신 · 새로 등록 선택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" y="5285232"/>
            <a:ext cx="9493431" cy="841248"/>
          </a:xfrm>
          <a:prstGeom prst="roundRect">
            <a:avLst>
              <a:gd name="adj" fmla="val 13043"/>
            </a:avLst>
          </a:prstGeom>
          <a:solidFill>
            <a:srgbClr val="F6E7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868680" y="5285232"/>
            <a:ext cx="104543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F5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일반적인 일정 추출이 아니라, 학교에서 쓰는 표현을 그대로 이해한다.</a:t>
            </a:r>
            <a:endParaRPr lang="en-US" sz="1500" dirty="0"/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98A42DD0-2EF8-3FFF-7B05-E1874092A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111" y="5181817"/>
            <a:ext cx="1572768" cy="157276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C57F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F33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 환경에 맞춰 고를 수 있는 구조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13385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78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메시지 · 모델도, 운영체제도, 코드도 열려 있음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474720" cy="3200400"/>
          </a:xfrm>
          <a:prstGeom prst="roundRect">
            <a:avLst>
              <a:gd name="adj" fmla="val 2857"/>
            </a:avLst>
          </a:prstGeom>
          <a:solidFill>
            <a:srgbClr val="C57F35"/>
          </a:solidFill>
          <a:ln w="12700">
            <a:solidFill>
              <a:srgbClr val="C57F35"/>
            </a:solidFill>
            <a:prstDash val="solid"/>
          </a:ln>
          <a:effectLst>
            <a:outerShdw blurRad="127000" dist="25400" dir="5400000" algn="bl" rotWithShape="0">
              <a:srgbClr val="C9A97C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841248" y="19659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선택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59536" y="2660904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1115568" y="247345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800"/>
              </a:lnSpc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· ChatGPT · Gemini </a:t>
            </a:r>
            <a:r>
              <a:rPr lang="en-US" altLang="ko-KR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Upstage 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68680" y="3653681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1124712" y="3440756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전송이 부담이면 Ollama로 전환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52544" y="1737360"/>
            <a:ext cx="34747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C9A97C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4645152" y="19659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F33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환경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4663440" y="2660904"/>
            <a:ext cx="109728" cy="109728"/>
          </a:xfrm>
          <a:prstGeom prst="ellipse">
            <a:avLst/>
          </a:prstGeom>
          <a:solidFill>
            <a:srgbClr val="D994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4873752" y="241858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5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macOS · Windows · Linux 지원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663440" y="3255264"/>
            <a:ext cx="109728" cy="109728"/>
          </a:xfrm>
          <a:prstGeom prst="ellipse">
            <a:avLst/>
          </a:prstGeom>
          <a:solidFill>
            <a:srgbClr val="D994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4873752" y="3033849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5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설치 없이 실행 파일로 바로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663440" y="3849624"/>
            <a:ext cx="109728" cy="109728"/>
          </a:xfrm>
          <a:prstGeom prst="ellipse">
            <a:avLst/>
          </a:prstGeom>
          <a:solidFill>
            <a:srgbClr val="D994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4873752" y="3632781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5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OS 시작 시 자동 실행 옵션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663440" y="4443984"/>
            <a:ext cx="109728" cy="109728"/>
          </a:xfrm>
          <a:prstGeom prst="ellipse">
            <a:avLst/>
          </a:prstGeom>
          <a:solidFill>
            <a:srgbClr val="D994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4873752" y="422540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5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버전 확인 후 자동 업데이트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156448" y="1737360"/>
            <a:ext cx="34747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C9A97C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8449056" y="19659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F33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개방성</a:t>
            </a:r>
            <a:endParaRPr lang="en-US" sz="1900" dirty="0"/>
          </a:p>
        </p:txBody>
      </p:sp>
      <p:sp>
        <p:nvSpPr>
          <p:cNvPr id="28" name="Shape 26"/>
          <p:cNvSpPr/>
          <p:nvPr/>
        </p:nvSpPr>
        <p:spPr>
          <a:xfrm>
            <a:off x="8467344" y="2660904"/>
            <a:ext cx="109728" cy="109728"/>
          </a:xfrm>
          <a:prstGeom prst="ellipse">
            <a:avLst/>
          </a:prstGeom>
          <a:solidFill>
            <a:srgbClr val="D994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 txBox="1"/>
          <p:nvPr/>
        </p:nvSpPr>
        <p:spPr>
          <a:xfrm>
            <a:off x="8723376" y="247563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5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오픈소스 · MIT 라이선스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467344" y="3385892"/>
            <a:ext cx="109728" cy="109728"/>
          </a:xfrm>
          <a:prstGeom prst="ellipse">
            <a:avLst/>
          </a:prstGeom>
          <a:solidFill>
            <a:srgbClr val="D994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8723376" y="3189296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5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서버 없이 내 PC에서 동작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467344" y="4152248"/>
            <a:ext cx="109728" cy="109728"/>
          </a:xfrm>
          <a:prstGeom prst="ellipse">
            <a:avLst/>
          </a:prstGeom>
          <a:solidFill>
            <a:srgbClr val="D994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 txBox="1"/>
          <p:nvPr/>
        </p:nvSpPr>
        <p:spPr>
          <a:xfrm>
            <a:off x="8723376" y="395565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5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키·토큰은 OS 키체인 보관</a:t>
            </a:r>
            <a:endParaRPr lang="en-US" sz="125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EC5A090-6D5F-4F0E-CF68-39534D8EC8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8514" y="5339442"/>
            <a:ext cx="1453243" cy="145324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E8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9601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B975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문장으로 정리하면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164515"/>
            <a:ext cx="10332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3F33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흩어진 업무 자료를 손쉽게 던지면,</a:t>
            </a:r>
            <a:endParaRPr lang="en-US" sz="3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3F33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개인정보는 로컬에서 걸러내고,</a:t>
            </a:r>
            <a:endParaRPr lang="en-US" sz="3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3F33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단계별 AI가 일정과 할 일을 판단하여</a:t>
            </a:r>
            <a:endParaRPr lang="en-US" sz="3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3F33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Calendar와 Tasks로 보내주는 도구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1193</Words>
  <Application>Microsoft Office PowerPoint</Application>
  <PresentationFormat>와이드스크린</PresentationFormat>
  <Paragraphs>211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맑은 고딕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catmoa 소개</dc:title>
  <dc:subject>PptxGenJS Presentation</dc:subject>
  <dc:creator>PptxGenJS</dc:creator>
  <cp:lastModifiedBy>윤서희</cp:lastModifiedBy>
  <cp:revision>10</cp:revision>
  <dcterms:created xsi:type="dcterms:W3CDTF">2026-08-28T15:58:40Z</dcterms:created>
  <dcterms:modified xsi:type="dcterms:W3CDTF">2026-08-29T00:43:52Z</dcterms:modified>
</cp:coreProperties>
</file>